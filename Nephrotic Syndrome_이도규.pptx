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63" r:id="rId2"/>
    <p:sldId id="259" r:id="rId3"/>
    <p:sldId id="269" r:id="rId4"/>
    <p:sldId id="352" r:id="rId5"/>
    <p:sldId id="355" r:id="rId6"/>
    <p:sldId id="354" r:id="rId7"/>
    <p:sldId id="351" r:id="rId8"/>
    <p:sldId id="368" r:id="rId9"/>
    <p:sldId id="376" r:id="rId10"/>
    <p:sldId id="377" r:id="rId11"/>
    <p:sldId id="362" r:id="rId12"/>
    <p:sldId id="374" r:id="rId13"/>
    <p:sldId id="375" r:id="rId14"/>
    <p:sldId id="372" r:id="rId15"/>
    <p:sldId id="373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6" autoAdjust="0"/>
    <p:restoredTop sz="89609" autoAdjust="0"/>
  </p:normalViewPr>
  <p:slideViewPr>
    <p:cSldViewPr snapToGrid="0">
      <p:cViewPr varScale="1">
        <p:scale>
          <a:sx n="74" d="100"/>
          <a:sy n="74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7D9EE-62BB-4EA8-B9FE-D49640BF931D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B5A06-0940-4A08-A61F-499F97066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70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436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590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403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46CD-39B8-B020-FFB5-4E3508A0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F1B505-1752-BD8A-1303-AD14536DB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D7745B-A468-66F2-60D1-30D36131C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085249-5F41-6992-3803-B14AAC9B3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89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ACB3-F06E-09FF-3C0C-AADE2B92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D102E-EE85-CCE9-34D0-F56F10114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CD528D-6572-5FE9-690F-AAE4411F9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A4FBE0-FC23-B824-6C40-FA360C3D5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124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86856-5E85-4EDA-343B-99794631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58EBE6-619D-61F7-27B4-53556C4D5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E39FA1-AC4B-6E9B-43BB-8238BC4FD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7C3903-59B0-14E6-37E1-0AD1724AD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846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4BC1F-66F3-CA92-76A2-FB0B9DC5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9DBD9-1E3E-0787-319F-F84797C0B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A8750-89D9-2D45-E2F4-BE65A6DEE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9A8F1-F061-16C3-8D98-9303DE121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802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5F5D-E412-8A2F-5877-C02E44B2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252825-E8C1-4D2C-575D-D278A9214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697A21-9542-8EDB-856A-6A8E3FDBC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7E0AE-8D54-1BD3-D9D0-EE8CE806B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220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4C65-8747-BC07-B67A-2C3F5223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2DB35-75A8-8A55-176C-3215569AF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A4D679-7185-3236-8254-03049594C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801532-559A-AA7A-2245-95A5346B4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793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29B4-D92D-31D3-832F-D382893C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9C65A-C77E-9E37-4B87-7D2B2729E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792FB6-41E7-2C1B-4741-C52A7CBB5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A72E8-588B-1E7B-5684-56DF5C8DA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108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EAE2-3EA1-FA6D-3243-95886CF87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84C93E-2990-E8AB-6F19-FFE47E0E8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4C234-8CBE-E8A6-4DBA-3C3E5720E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FE67E1-B642-8025-D6F3-AFBCC0A11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83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BF57-D209-33EC-B4A1-D5C58CFD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8D8C10-7608-4149-B1DB-1CE6CDDD7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0299E-9E9C-521E-31F2-3ACBDBAAB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6F3163-6680-4827-CC76-CD9C4AB34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983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3129-134B-31E6-595F-333776444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FD45CE-EB2C-0F52-B50E-8905D85B9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C0D923-D449-2C62-7C7B-5919BA6E2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3016C-99C8-D80F-C225-35349BC3A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951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D577-111C-1666-73B9-602237096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D45658-D80B-3CCD-5927-1B8426A57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5DD27-A50F-1A2C-33A1-47888B722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0530B-C711-D28B-5595-0DD1258C9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688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DDD8-37F6-20BC-DBC6-3C02056A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62B797-880F-ECE2-0067-3B3E7A396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0DED9C-089F-4058-3217-B21DF8DC6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4FAB9-9EA2-E3E9-529D-D32CFB626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D45C1-098C-407F-B5E3-1419D3BDE19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521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5944B-8FE0-C4A3-816B-62172ED7F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7878C7-F973-129E-A4FA-D12B0D3D5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AF353-A946-BE24-908F-8AE701E2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63EB4-9B87-8150-C513-D7DEA1DA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75E18C-1A2F-0E31-35F5-36745C71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091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87C07-9D5E-78FA-0FF8-64B4806D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97744B-1653-1D2D-A254-72627D466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3DF22C-D3F7-1523-F9C6-5837E6983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84D73A-6D58-39DC-6D2C-2ACD936E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F3BC0E-C051-C57C-03AF-1B7ABF0B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86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9D772-EE09-C11C-5E68-B28D1422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FCD00A-C535-2EDE-6708-719236AC0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47DCD0-8E7E-AD00-444D-AD76C828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FE768-2844-A68D-D785-00247C8BA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5E4AF-A622-31AF-56D8-86C357EB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78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2760-44B7-588C-07FD-5E6F7024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C67CF4-8D90-6184-69B6-7C259337C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E6327-B685-66AD-973A-CB0C8EE4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5BD48-D7C6-1BFB-8E4C-0B635037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639796-FA33-51AD-9174-F6ABF20F3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6C6514-44AD-9064-85D2-10BA5BD0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508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BBD8F-FD5B-5DFA-A70B-AF137ED1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2519AA-58B3-7080-4A25-07B41641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23F5CD-C75A-AEAC-D4BD-540704337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90B92C-00D7-D62F-F8CD-9EE4F9670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B8E934-8714-0BE2-B4EA-0828EF005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7F26E4-552B-D201-1A22-B13088E5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3A45AF-BE2A-3872-8DC7-BEC7BCE1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DB6C8D-2805-89FF-59CB-44914C64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03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257EF-6588-BCEA-341C-B4FC7105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5F2325-155F-8B87-464A-35399662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9A8FC8-81C9-B065-7A88-AE05098E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CA8AF9-F88B-F63A-BFB7-495769C1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47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885EA-9903-0585-C54A-DCF801CB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893346-FCFF-8F22-5DE6-60147201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2FB0DF-F437-B0FA-1C5A-72B22129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57EEA-DFB6-48A5-6D0C-6779B483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F8ADBB-55CA-B264-1D0E-4A28AB2FA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B5D115-2B8B-90E0-8ADE-CA2436761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B38114-9631-B2C5-1C28-C360843F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A2827-06D8-38C2-5F54-A1C5C38A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DF743-4127-ED4A-797C-AF42F484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50A9B-FC75-9BD7-0BCE-EB3C9E94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0C334B-0856-3F4E-1A81-F0BE5EB1E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43ED11-D120-FD17-8CCC-D8CB930CF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1A74AC-4901-9B77-C4C2-C98E8089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1B56B3-EC30-7F7F-6CC8-70C111B6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CBE2D6-2CC5-BB7D-A314-8FE8B226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036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AB73FB-1A71-0F21-938E-CBEC4E8E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6EB9D7-2098-055D-928C-88E370951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B091E6-E1EE-368A-6A15-B79B44C5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2A74D6-2568-7969-DEE4-B0CD6DB2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8C74CC-3DA8-4909-6C21-6F1E6F74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17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6BF743-2AC7-1057-44C9-8A52BE891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83EDEE-72CE-A901-0D5E-F90A547A9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1FB3AD-E091-7B3B-C118-277F20A0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946C0-6BFC-E301-F07C-6BBE395B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9670CF-D2B1-CF4D-DD5C-15DC8A9D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52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6AD64C-B95A-A419-B721-DDF25D19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A217CD-6CD6-40EF-7D79-A8B64285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F275D-C880-4869-E852-6338766ED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40DD2-2832-4B0A-9898-B9B48710C20B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AF6E76-2680-B00A-76B7-5D27BFB4E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533F63-BAAE-C1EF-75E3-6D254F2B2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5C1D0-993C-4D43-87E3-C26A15D02D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41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3771E-3F85-CE73-810F-02A0E640A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7544"/>
            <a:ext cx="914400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00598A"/>
                </a:solidFill>
              </a:rPr>
              <a:t>Case presentation</a:t>
            </a:r>
            <a:endParaRPr lang="ko-KR" altLang="en-US" b="1" dirty="0">
              <a:solidFill>
                <a:srgbClr val="00598A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FB1250-FE4B-6B9A-CFAC-609B484D03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신장내과 </a:t>
            </a:r>
            <a:r>
              <a:rPr lang="en-US" altLang="ko-KR" b="1" dirty="0"/>
              <a:t>PK A-5</a:t>
            </a:r>
            <a:r>
              <a:rPr lang="ko-KR" altLang="en-US" b="1" dirty="0"/>
              <a:t>조</a:t>
            </a:r>
            <a:endParaRPr lang="en-US" altLang="ko-KR" b="1" dirty="0"/>
          </a:p>
          <a:p>
            <a:r>
              <a:rPr lang="ko-KR" altLang="en-US" b="1" dirty="0" err="1"/>
              <a:t>이도규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4276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F0C2747-ED69-8E87-F719-AB1F6E67A951}"/>
              </a:ext>
            </a:extLst>
          </p:cNvPr>
          <p:cNvSpPr/>
          <p:nvPr/>
        </p:nvSpPr>
        <p:spPr>
          <a:xfrm>
            <a:off x="1" y="1156293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CEC6E7-0E1D-C05F-30D0-4667CBE2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565354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CC &amp; Present illness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49D30A-7D0D-5E9B-830D-647286DE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" y="1472927"/>
            <a:ext cx="11252176" cy="5184776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F/69y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Chief Complaint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내원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일 전 발생한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Generalized edema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Present</a:t>
            </a:r>
            <a:r>
              <a:rPr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illness 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타원 검사상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Serum Albumin 1.7g/dL, U/A Protein 4+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소견으로 </a:t>
            </a:r>
            <a:r>
              <a:rPr lang="en-US" altLang="ko-KR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Nephrrotic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Syndrome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의심 하 정밀 평가 및 치료 위해 본원 응급실 통해 신장내과 입원</a:t>
            </a:r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일주일 전 기저 체중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71kg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에서 내원 당일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79.5kg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으로 약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8.5kg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의 급격한 체중 증가</a:t>
            </a:r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457200" lvl="1" indent="0">
              <a:buNone/>
            </a:pPr>
            <a:endParaRPr lang="en-US" altLang="ko-KR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2051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7890D-CBFC-FE5E-DEDC-76312CC7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81335-A8B6-C4EA-34A6-B3ED6ABF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565354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Past History 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25AB2-40C1-61B4-D071-8E916E44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654" y="1617968"/>
            <a:ext cx="5919018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Past history &amp; Operation history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Thyroiditis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Adrenal Insufficiency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Lung nodule (LUL) (2023.10)</a:t>
            </a:r>
          </a:p>
          <a:p>
            <a:pPr>
              <a:lnSpc>
                <a:spcPct val="150000"/>
              </a:lnSpc>
            </a:pPr>
            <a:r>
              <a:rPr lang="en-US" altLang="ko-KR" sz="1800" b="1" dirty="0"/>
              <a:t>Medication</a:t>
            </a:r>
          </a:p>
          <a:p>
            <a:pPr lvl="1"/>
            <a:r>
              <a:rPr lang="en-US" altLang="ko-KR" sz="1800" dirty="0"/>
              <a:t>NSAIDs 2</a:t>
            </a:r>
            <a:r>
              <a:rPr lang="ko-KR" altLang="en-US" sz="1800" dirty="0"/>
              <a:t>주간 복용</a:t>
            </a:r>
            <a:r>
              <a:rPr lang="en-US" altLang="ko-KR" sz="1800" dirty="0"/>
              <a:t>, 10</a:t>
            </a:r>
            <a:r>
              <a:rPr lang="ko-KR" altLang="en-US" sz="1800" dirty="0"/>
              <a:t>일 전 마지막 복용</a:t>
            </a:r>
            <a:endParaRPr lang="en-US" altLang="ko-KR" sz="18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24A405-55F5-E28D-C8A9-FDE04BC27025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2BEE71F-3F38-EFF5-58AE-C92F8D06EAD7}"/>
              </a:ext>
            </a:extLst>
          </p:cNvPr>
          <p:cNvSpPr txBox="1">
            <a:spLocks/>
          </p:cNvSpPr>
          <p:nvPr/>
        </p:nvSpPr>
        <p:spPr>
          <a:xfrm>
            <a:off x="6842883" y="1248663"/>
            <a:ext cx="5326108" cy="4693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b="1" dirty="0"/>
              <a:t>Family history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N-S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b="1" dirty="0"/>
              <a:t>Social history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Smoking (-)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Alcohol (-)</a:t>
            </a:r>
          </a:p>
        </p:txBody>
      </p:sp>
    </p:spTree>
    <p:extLst>
      <p:ext uri="{BB962C8B-B14F-4D97-AF65-F5344CB8AC3E}">
        <p14:creationId xmlns:p14="http://schemas.microsoft.com/office/powerpoint/2010/main" val="2625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D9F5-955E-2D3E-9373-0ECD8C66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3528C-3BE9-6376-1215-FA26AE17B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565354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ROS &amp; P/E (26.06.08)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52881D-08A7-0B80-4BE9-22D39D597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32" y="1638768"/>
            <a:ext cx="5844068" cy="4980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b="1" dirty="0"/>
              <a:t>ROS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General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Body weight gain(+8.5kg within 2 days)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Both leg pitting edema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Urinary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Decreased urine output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Respiratory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Dyspnea(</a:t>
            </a:r>
            <a:r>
              <a:rPr lang="en-US" altLang="ko-KR" sz="1800" dirty="0" err="1"/>
              <a:t>mMRC</a:t>
            </a:r>
            <a:r>
              <a:rPr lang="en-US" altLang="ko-KR" sz="1800" dirty="0"/>
              <a:t> grade 2)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Gastrointestinal</a:t>
            </a:r>
            <a:endParaRPr lang="en-US" altLang="ko-KR" sz="16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Nausea/vomiting/diarrhea : (-/-/-)</a:t>
            </a:r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5B24EF-6ABC-D624-3F97-8DFA044ABDD8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9607BB6-4BB3-C9EC-6470-E9CAFD77CEF6}"/>
              </a:ext>
            </a:extLst>
          </p:cNvPr>
          <p:cNvSpPr txBox="1">
            <a:spLocks/>
          </p:cNvSpPr>
          <p:nvPr/>
        </p:nvSpPr>
        <p:spPr>
          <a:xfrm>
            <a:off x="7077695" y="1614344"/>
            <a:ext cx="5189254" cy="488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/>
              <a:t>P/E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BP : 140/90mmHG</a:t>
            </a:r>
            <a:endParaRPr lang="ko-KR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PR : 118</a:t>
            </a:r>
            <a:r>
              <a:rPr lang="ko-KR" altLang="ko-KR" sz="2000" dirty="0"/>
              <a:t>회</a:t>
            </a:r>
            <a:r>
              <a:rPr lang="en-US" altLang="ko-KR" sz="2000" dirty="0"/>
              <a:t>/min</a:t>
            </a:r>
            <a:endParaRPr lang="ko-KR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RR : 19</a:t>
            </a:r>
            <a:r>
              <a:rPr lang="ko-KR" altLang="ko-KR" sz="2000" dirty="0"/>
              <a:t>회</a:t>
            </a:r>
            <a:r>
              <a:rPr lang="en-US" altLang="ko-KR" sz="2000" dirty="0"/>
              <a:t>/min</a:t>
            </a:r>
            <a:endParaRPr lang="ko-KR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BT : 36.3</a:t>
            </a:r>
            <a:endParaRPr lang="ko-KR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SPO2 : 99%</a:t>
            </a:r>
            <a:endParaRPr lang="ko-KR" altLang="ko-KR" sz="2000" dirty="0"/>
          </a:p>
          <a:p>
            <a:pPr lvl="1">
              <a:lnSpc>
                <a:spcPct val="100000"/>
              </a:lnSpc>
            </a:pPr>
            <a:endParaRPr lang="en-US" altLang="ko-KR" sz="2000" b="1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800" b="1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390624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6185D-DBD8-04E7-2BA2-AC87230C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BE6DC-E942-5C0A-E0C6-8974749B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1176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Initial laboratory findings(06.08)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394B69-62C8-06E9-D177-C8DB0A5F476D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AE4383-3D21-BFA0-3D21-66DAD1AD6C3B}"/>
              </a:ext>
            </a:extLst>
          </p:cNvPr>
          <p:cNvSpPr txBox="1">
            <a:spLocks/>
          </p:cNvSpPr>
          <p:nvPr/>
        </p:nvSpPr>
        <p:spPr>
          <a:xfrm>
            <a:off x="176982" y="1134762"/>
            <a:ext cx="3908731" cy="64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endParaRPr lang="en-US" altLang="ko-KR" sz="18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4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A70FCF3-32AD-7E1F-C974-BF7FDAE0F35D}"/>
              </a:ext>
            </a:extLst>
          </p:cNvPr>
          <p:cNvSpPr txBox="1">
            <a:spLocks/>
          </p:cNvSpPr>
          <p:nvPr/>
        </p:nvSpPr>
        <p:spPr>
          <a:xfrm>
            <a:off x="176981" y="2901752"/>
            <a:ext cx="3908731" cy="64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ko-KR" sz="1400" dirty="0"/>
          </a:p>
          <a:p>
            <a:endParaRPr lang="en-US" altLang="ko-KR" sz="18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4731441-D3E5-B42F-9808-BE9A0E392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598917"/>
              </p:ext>
            </p:extLst>
          </p:nvPr>
        </p:nvGraphicFramePr>
        <p:xfrm>
          <a:off x="415971" y="1207777"/>
          <a:ext cx="4852220" cy="2154771"/>
        </p:xfrm>
        <a:graphic>
          <a:graphicData uri="http://schemas.openxmlformats.org/drawingml/2006/table">
            <a:tbl>
              <a:tblPr/>
              <a:tblGrid>
                <a:gridCol w="1487092">
                  <a:extLst>
                    <a:ext uri="{9D8B030D-6E8A-4147-A177-3AD203B41FA5}">
                      <a16:colId xmlns:a16="http://schemas.microsoft.com/office/drawing/2014/main" val="110529102"/>
                    </a:ext>
                  </a:extLst>
                </a:gridCol>
                <a:gridCol w="560854">
                  <a:extLst>
                    <a:ext uri="{9D8B030D-6E8A-4147-A177-3AD203B41FA5}">
                      <a16:colId xmlns:a16="http://schemas.microsoft.com/office/drawing/2014/main" val="3560335914"/>
                    </a:ext>
                  </a:extLst>
                </a:gridCol>
                <a:gridCol w="1085132">
                  <a:extLst>
                    <a:ext uri="{9D8B030D-6E8A-4147-A177-3AD203B41FA5}">
                      <a16:colId xmlns:a16="http://schemas.microsoft.com/office/drawing/2014/main" val="3511970645"/>
                    </a:ext>
                  </a:extLst>
                </a:gridCol>
                <a:gridCol w="1719142">
                  <a:extLst>
                    <a:ext uri="{9D8B030D-6E8A-4147-A177-3AD203B41FA5}">
                      <a16:colId xmlns:a16="http://schemas.microsoft.com/office/drawing/2014/main" val="3658890646"/>
                    </a:ext>
                  </a:extLst>
                </a:gridCol>
              </a:tblGrid>
              <a:tr h="31067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검사명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참고치</a:t>
                      </a:r>
                      <a:endParaRPr lang="ko-KR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50153"/>
                  </a:ext>
                </a:extLst>
              </a:tr>
              <a:tr h="31067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BUN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17.1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6~26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mg/dL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466447"/>
                  </a:ext>
                </a:extLst>
              </a:tr>
              <a:tr h="31067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Creatinine</a:t>
                      </a:r>
                      <a:endParaRPr lang="ko-KR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</a:t>
                      </a:r>
                      <a:endParaRPr lang="ko-KR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0.4~1.2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mg/dL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575481"/>
                  </a:ext>
                </a:extLst>
              </a:tr>
              <a:tr h="4165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Cystatin C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0.88</a:t>
                      </a:r>
                      <a:endParaRPr lang="ko-KR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2800" dirty="0">
                        <a:effectLst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mg/L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395724"/>
                  </a:ext>
                </a:extLst>
              </a:tr>
              <a:tr h="4165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GFR(CKD-EPI)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</a:t>
                      </a:r>
                      <a:endParaRPr lang="ko-KR" sz="12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2800" dirty="0">
                        <a:effectLst/>
                      </a:endParaRPr>
                    </a:p>
                  </a:txBody>
                  <a:tcPr marL="84283" marR="84283" marT="42141" marB="42141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mL/min/1.73m^2</a:t>
                      </a:r>
                      <a:endParaRPr lang="ko-KR" sz="12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4283" marR="84283" marT="42141" marB="4214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89759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69409A8-8D69-B778-0620-C2F9E5E1F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953499"/>
              </p:ext>
            </p:extLst>
          </p:nvPr>
        </p:nvGraphicFramePr>
        <p:xfrm>
          <a:off x="415971" y="3362548"/>
          <a:ext cx="4852220" cy="3449455"/>
        </p:xfrm>
        <a:graphic>
          <a:graphicData uri="http://schemas.openxmlformats.org/drawingml/2006/table">
            <a:tbl>
              <a:tblPr/>
              <a:tblGrid>
                <a:gridCol w="1487092">
                  <a:extLst>
                    <a:ext uri="{9D8B030D-6E8A-4147-A177-3AD203B41FA5}">
                      <a16:colId xmlns:a16="http://schemas.microsoft.com/office/drawing/2014/main" val="2982149089"/>
                    </a:ext>
                  </a:extLst>
                </a:gridCol>
                <a:gridCol w="560856">
                  <a:extLst>
                    <a:ext uri="{9D8B030D-6E8A-4147-A177-3AD203B41FA5}">
                      <a16:colId xmlns:a16="http://schemas.microsoft.com/office/drawing/2014/main" val="495397367"/>
                    </a:ext>
                  </a:extLst>
                </a:gridCol>
                <a:gridCol w="1085131">
                  <a:extLst>
                    <a:ext uri="{9D8B030D-6E8A-4147-A177-3AD203B41FA5}">
                      <a16:colId xmlns:a16="http://schemas.microsoft.com/office/drawing/2014/main" val="3466573864"/>
                    </a:ext>
                  </a:extLst>
                </a:gridCol>
                <a:gridCol w="1719141">
                  <a:extLst>
                    <a:ext uri="{9D8B030D-6E8A-4147-A177-3AD203B41FA5}">
                      <a16:colId xmlns:a16="http://schemas.microsoft.com/office/drawing/2014/main" val="665750472"/>
                    </a:ext>
                  </a:extLst>
                </a:gridCol>
              </a:tblGrid>
              <a:tr h="3144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AST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0~40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U/L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423754"/>
                  </a:ext>
                </a:extLst>
              </a:tr>
              <a:tr h="3144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ALT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0~40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U/L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710147"/>
                  </a:ext>
                </a:extLst>
              </a:tr>
              <a:tr h="3144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ALP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35~104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U/L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71775"/>
                  </a:ext>
                </a:extLst>
              </a:tr>
              <a:tr h="38062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T.Bilirubin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0.1~1.2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mg/dL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387449"/>
                  </a:ext>
                </a:extLst>
              </a:tr>
              <a:tr h="3144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T.Protein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4.82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6.0~8.0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g/dL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284902"/>
                  </a:ext>
                </a:extLst>
              </a:tr>
              <a:tr h="3144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Albumin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b="1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3.3~5.2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g/dL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059123"/>
                  </a:ext>
                </a:extLst>
              </a:tr>
              <a:tr h="41332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 INR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0.88~1.12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400" dirty="0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720691"/>
                  </a:ext>
                </a:extLst>
              </a:tr>
              <a:tr h="41332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Total Cholesterol</a:t>
                      </a:r>
                      <a:endParaRPr lang="ko-KR" sz="1400" b="1" kern="0" spc="0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490</a:t>
                      </a:r>
                      <a:endParaRPr lang="ko-KR" sz="1400" b="1" kern="0" spc="0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0~200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  <a:latin typeface="+mj-lt"/>
                        </a:rPr>
                        <a:t>mg/dL</a:t>
                      </a:r>
                      <a:endParaRPr lang="ko-KR" sz="1400" dirty="0">
                        <a:effectLst/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50216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BB63F82-0DCA-0FC5-78F1-28B588263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286959"/>
              </p:ext>
            </p:extLst>
          </p:nvPr>
        </p:nvGraphicFramePr>
        <p:xfrm>
          <a:off x="6241471" y="1307685"/>
          <a:ext cx="4980708" cy="15165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5177">
                  <a:extLst>
                    <a:ext uri="{9D8B030D-6E8A-4147-A177-3AD203B41FA5}">
                      <a16:colId xmlns:a16="http://schemas.microsoft.com/office/drawing/2014/main" val="3524017828"/>
                    </a:ext>
                  </a:extLst>
                </a:gridCol>
                <a:gridCol w="1245177">
                  <a:extLst>
                    <a:ext uri="{9D8B030D-6E8A-4147-A177-3AD203B41FA5}">
                      <a16:colId xmlns:a16="http://schemas.microsoft.com/office/drawing/2014/main" val="1661418493"/>
                    </a:ext>
                  </a:extLst>
                </a:gridCol>
                <a:gridCol w="1245177">
                  <a:extLst>
                    <a:ext uri="{9D8B030D-6E8A-4147-A177-3AD203B41FA5}">
                      <a16:colId xmlns:a16="http://schemas.microsoft.com/office/drawing/2014/main" val="3440323524"/>
                    </a:ext>
                  </a:extLst>
                </a:gridCol>
                <a:gridCol w="1245177">
                  <a:extLst>
                    <a:ext uri="{9D8B030D-6E8A-4147-A177-3AD203B41FA5}">
                      <a16:colId xmlns:a16="http://schemas.microsoft.com/office/drawing/2014/main" val="3839187508"/>
                    </a:ext>
                  </a:extLst>
                </a:gridCol>
              </a:tblGrid>
              <a:tr h="1874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검사명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참고치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1393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</a:rPr>
                        <a:t>Urine Protein(24hr)</a:t>
                      </a:r>
                      <a:endParaRPr lang="ko-KR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</a:rPr>
                        <a:t>12973</a:t>
                      </a:r>
                      <a:endParaRPr lang="ko-KR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40~150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mg/day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183936"/>
                  </a:ext>
                </a:extLst>
              </a:tr>
              <a:tr h="362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</a:rPr>
                        <a:t>UPCR</a:t>
                      </a:r>
                      <a:endParaRPr lang="ko-KR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1745.71</a:t>
                      </a:r>
                      <a:endParaRPr 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mg/mmol</a:t>
                      </a:r>
                      <a:endParaRPr lang="ko-KR" sz="14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388326"/>
                  </a:ext>
                </a:extLst>
              </a:tr>
              <a:tr h="362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</a:rPr>
                        <a:t>UACR</a:t>
                      </a:r>
                      <a:endParaRPr lang="ko-KR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kern="0" spc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384.1</a:t>
                      </a:r>
                      <a:endParaRPr 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mg/mmol</a:t>
                      </a:r>
                      <a:endParaRPr lang="ko-KR" sz="14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012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21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DDC3-233C-EA0B-E269-18623B8B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08A0A-BEF7-88AF-A37E-3471A968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Diagnostic plan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7D09C-61FC-816F-EDD4-CD63FE30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22" y="1564639"/>
            <a:ext cx="7639056" cy="498606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Kidney related Factor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RFT f/u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Serology(Anti-PLA2R IgG, Anti-GBM Ab)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Kidney Biopsy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/>
              <a:t>2. Heart related factor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</a:t>
            </a:r>
            <a:r>
              <a:rPr lang="en-US" altLang="ko-KR" sz="2000" dirty="0"/>
              <a:t>TTE</a:t>
            </a:r>
            <a:endParaRPr lang="en-US" altLang="ko-KR" sz="14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E0CC0E-98DB-A1EF-20EC-DABB31A90149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66892F3-0C61-B547-80C9-945480C052A1}"/>
              </a:ext>
            </a:extLst>
          </p:cNvPr>
          <p:cNvSpPr txBox="1">
            <a:spLocks/>
          </p:cNvSpPr>
          <p:nvPr/>
        </p:nvSpPr>
        <p:spPr>
          <a:xfrm>
            <a:off x="5932697" y="1564639"/>
            <a:ext cx="6420787" cy="463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b="1" dirty="0"/>
              <a:t>3. Liver related Factor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Lab f/u : T. Bilirubin, AST, ALT, HBV, HCV, PT INR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Abdominal CT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457200" lvl="1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506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BCB41-479E-6293-D1E1-39FB77D9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0BB60-D619-AB7B-D77F-F5B89094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1176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 err="1">
                <a:solidFill>
                  <a:srgbClr val="00598A"/>
                </a:solidFill>
              </a:rPr>
              <a:t>Abodminal</a:t>
            </a:r>
            <a:r>
              <a:rPr lang="en-US" altLang="ko-KR" sz="4000" b="1" dirty="0">
                <a:solidFill>
                  <a:srgbClr val="00598A"/>
                </a:solidFill>
              </a:rPr>
              <a:t> CT(26.06.09)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506FD7-4C0C-B0C6-DADD-F2703AB267F9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C95ECD3-EC17-2F2A-0CBD-C500B78455C6}"/>
              </a:ext>
            </a:extLst>
          </p:cNvPr>
          <p:cNvSpPr txBox="1">
            <a:spLocks/>
          </p:cNvSpPr>
          <p:nvPr/>
        </p:nvSpPr>
        <p:spPr>
          <a:xfrm>
            <a:off x="439415" y="4971144"/>
            <a:ext cx="10183065" cy="1627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5500" dirty="0"/>
              <a:t>GB hydrops </a:t>
            </a:r>
          </a:p>
          <a:p>
            <a:pPr>
              <a:lnSpc>
                <a:spcPct val="150000"/>
              </a:lnSpc>
            </a:pPr>
            <a:r>
              <a:rPr lang="en-US" altLang="ko-KR" sz="5500" dirty="0"/>
              <a:t>Duodenum and jejunal edema</a:t>
            </a:r>
          </a:p>
          <a:p>
            <a:pPr>
              <a:lnSpc>
                <a:spcPct val="150000"/>
              </a:lnSpc>
            </a:pPr>
            <a:r>
              <a:rPr lang="en-US" altLang="ko-KR" sz="5500" dirty="0"/>
              <a:t>No cirrhotic change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  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4FE4CD-38D9-7147-0218-1BB4AD938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8" t="15646" r="5468" b="13189"/>
          <a:stretch>
            <a:fillRect/>
          </a:stretch>
        </p:blipFill>
        <p:spPr>
          <a:xfrm>
            <a:off x="439415" y="1380697"/>
            <a:ext cx="4324175" cy="34801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45BED7-D091-19D2-8B46-17A5E4617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5" t="18512" r="5317" b="12387"/>
          <a:stretch>
            <a:fillRect/>
          </a:stretch>
        </p:blipFill>
        <p:spPr>
          <a:xfrm>
            <a:off x="6096000" y="1435832"/>
            <a:ext cx="4324175" cy="336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1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8A83-6820-8CFD-12E8-33E7ED7D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B7EEF-D60E-A1E8-A9C9-2C413890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Assessment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1F38D9-E00A-611D-0C92-C91FF4F28D9A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2477626-51D7-21AA-562C-A19747B2B558}"/>
              </a:ext>
            </a:extLst>
          </p:cNvPr>
          <p:cNvSpPr txBox="1">
            <a:spLocks/>
          </p:cNvSpPr>
          <p:nvPr/>
        </p:nvSpPr>
        <p:spPr>
          <a:xfrm>
            <a:off x="517313" y="1613403"/>
            <a:ext cx="4408990" cy="382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52583D-35EF-D6EF-AB33-CB38E2CF0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91" y="1452016"/>
            <a:ext cx="7410951" cy="3360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A6BB44-30E4-A185-E128-92AD19EC09BB}"/>
              </a:ext>
            </a:extLst>
          </p:cNvPr>
          <p:cNvSpPr txBox="1"/>
          <p:nvPr/>
        </p:nvSpPr>
        <p:spPr>
          <a:xfrm>
            <a:off x="238991" y="5059931"/>
            <a:ext cx="6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KDIGO</a:t>
            </a:r>
            <a:r>
              <a:rPr lang="ko-KR" altLang="en-US" dirty="0"/>
              <a:t> </a:t>
            </a:r>
            <a:r>
              <a:rPr lang="en-US" altLang="ko-KR" dirty="0"/>
              <a:t>2021</a:t>
            </a:r>
            <a:r>
              <a:rPr lang="ko-KR" altLang="en-US" dirty="0"/>
              <a:t> </a:t>
            </a:r>
            <a:r>
              <a:rPr lang="en-US" altLang="ko-KR" dirty="0"/>
              <a:t>Glomerular disease guideline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CDC77-CA67-3B55-7DF6-BC5FBCBA112E}"/>
              </a:ext>
            </a:extLst>
          </p:cNvPr>
          <p:cNvSpPr txBox="1"/>
          <p:nvPr/>
        </p:nvSpPr>
        <p:spPr>
          <a:xfrm>
            <a:off x="7751618" y="1452016"/>
            <a:ext cx="4201391" cy="5572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dirty="0" err="1"/>
              <a:t>Neprhotic</a:t>
            </a:r>
            <a:r>
              <a:rPr kumimoji="1" lang="en-US" altLang="ko-KR" sz="2400" dirty="0"/>
              <a:t> Syndrome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Proteinuira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ea typeface="Malgun Gothic" panose="020B0503020000020004" pitchFamily="34" charset="-127"/>
              </a:rPr>
              <a:t>13g/day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ea typeface="Malgun Gothic" panose="020B0503020000020004" pitchFamily="34" charset="-127"/>
              </a:rPr>
              <a:t>UPCR 1745mg/mmol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Hypoalbuminemia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2g/dL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Edema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Hyperlipidemia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67999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708DB-F80C-90AA-F1C8-8D68AB66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3511D-7ACF-1A46-EB26-8F4D221E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Assessment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4C4131-ADE7-F0DA-20F5-B18D54446D61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BBA61CE-F8BA-DC2D-5E13-5B7F7E8AFAEC}"/>
              </a:ext>
            </a:extLst>
          </p:cNvPr>
          <p:cNvSpPr txBox="1">
            <a:spLocks/>
          </p:cNvSpPr>
          <p:nvPr/>
        </p:nvSpPr>
        <p:spPr>
          <a:xfrm>
            <a:off x="517313" y="1613403"/>
            <a:ext cx="4408990" cy="382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43960-EDA9-B6D2-18CE-11CC2BE789F5}"/>
              </a:ext>
            </a:extLst>
          </p:cNvPr>
          <p:cNvSpPr txBox="1"/>
          <p:nvPr/>
        </p:nvSpPr>
        <p:spPr>
          <a:xfrm>
            <a:off x="176982" y="5210448"/>
            <a:ext cx="4408990" cy="261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Cardiac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ea typeface="Malgun Gothic" panose="020B0503020000020004" pitchFamily="34" charset="-127"/>
              </a:rPr>
              <a:t>TTE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ea typeface="Malgun Gothic" panose="020B0503020000020004" pitchFamily="34" charset="-127"/>
              </a:rPr>
              <a:t>Normal LV/RV systolic function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ea typeface="Malgun Gothic" panose="020B0503020000020004" pitchFamily="34" charset="-127"/>
              </a:rPr>
              <a:t>LVEF 65%</a:t>
            </a:r>
            <a:endParaRPr kumimoji="1" lang="en-US" altLang="ko-KR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8BFB67-5964-8CFD-5F9F-05AF517A5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120" y="1371575"/>
            <a:ext cx="8337380" cy="3635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6EE0FB-3CCE-A35F-D80E-7464CC6FE28D}"/>
              </a:ext>
            </a:extLst>
          </p:cNvPr>
          <p:cNvSpPr txBox="1"/>
          <p:nvPr/>
        </p:nvSpPr>
        <p:spPr>
          <a:xfrm>
            <a:off x="4308648" y="5210448"/>
            <a:ext cx="4408990" cy="2248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Hepatic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ea typeface="Malgun Gothic" panose="020B0503020000020004" pitchFamily="34" charset="-127"/>
              </a:rPr>
              <a:t>Normal Liver function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ea typeface="Malgun Gothic" panose="020B0503020000020004" pitchFamily="34" charset="-127"/>
              </a:rPr>
              <a:t>No sign of cirrhotic change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55DFC-1604-A0EE-E344-E45F5FBFF570}"/>
              </a:ext>
            </a:extLst>
          </p:cNvPr>
          <p:cNvSpPr txBox="1"/>
          <p:nvPr/>
        </p:nvSpPr>
        <p:spPr>
          <a:xfrm>
            <a:off x="7786371" y="5210447"/>
            <a:ext cx="4547637" cy="1833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Renal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ea typeface="Malgun Gothic" panose="020B0503020000020004" pitchFamily="34" charset="-127"/>
              </a:rPr>
              <a:t>Normal BUN, Cr, eGFR, Cystatin 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E11132-1E8F-7EEC-2F04-821476ECB952}"/>
              </a:ext>
            </a:extLst>
          </p:cNvPr>
          <p:cNvSpPr/>
          <p:nvPr/>
        </p:nvSpPr>
        <p:spPr>
          <a:xfrm>
            <a:off x="1454726" y="4530436"/>
            <a:ext cx="8260773" cy="584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261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7628-B9A7-C0BA-494C-7E726A64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4EB3C-F40F-9DAA-E60D-AA1DB896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Assessment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5530FB-BA03-B564-6AC8-9F5C88F0D4DA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A79C08F-2829-B8FD-B2A5-DA723CF94D96}"/>
              </a:ext>
            </a:extLst>
          </p:cNvPr>
          <p:cNvSpPr txBox="1">
            <a:spLocks/>
          </p:cNvSpPr>
          <p:nvPr/>
        </p:nvSpPr>
        <p:spPr>
          <a:xfrm>
            <a:off x="517313" y="1613403"/>
            <a:ext cx="4408990" cy="382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CA9F1E-FE76-7066-67D3-599DEFFC5CB9}"/>
              </a:ext>
            </a:extLst>
          </p:cNvPr>
          <p:cNvSpPr txBox="1"/>
          <p:nvPr/>
        </p:nvSpPr>
        <p:spPr>
          <a:xfrm>
            <a:off x="0" y="1400750"/>
            <a:ext cx="9823088" cy="3356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2400" b="1" dirty="0">
                <a:ea typeface="Malgun Gothic" panose="020B0503020000020004" pitchFamily="34" charset="-127"/>
              </a:rPr>
              <a:t>R/O MCD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Clinical Feature : Abrupt onset of edema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Massive Proteinuria </a:t>
            </a:r>
            <a:r>
              <a:rPr kumimoji="1" lang="en-US" altLang="ko-KR" sz="2000">
                <a:ea typeface="Malgun Gothic" panose="020B0503020000020004" pitchFamily="34" charset="-127"/>
              </a:rPr>
              <a:t>: 13g</a:t>
            </a:r>
            <a:r>
              <a:rPr kumimoji="1" lang="en-US" altLang="ko-KR" sz="2000" dirty="0">
                <a:ea typeface="Malgun Gothic" panose="020B0503020000020004" pitchFamily="34" charset="-127"/>
              </a:rPr>
              <a:t>/day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Mixed type Proteinuria : </a:t>
            </a:r>
            <a:r>
              <a:rPr kumimoji="1" lang="en-US" altLang="ko-KR" sz="2000" dirty="0" err="1">
                <a:ea typeface="Malgun Gothic" panose="020B0503020000020004" pitchFamily="34" charset="-127"/>
              </a:rPr>
              <a:t>uPEP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에서 </a:t>
            </a:r>
            <a:r>
              <a:rPr kumimoji="1" lang="en-US" altLang="ko-KR" sz="2000" dirty="0">
                <a:ea typeface="Malgun Gothic" panose="020B0503020000020004" pitchFamily="34" charset="-127"/>
              </a:rPr>
              <a:t>Albumin fraction observed predominantly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Medication : NSAIDs 2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주 복용</a:t>
            </a:r>
            <a:r>
              <a:rPr kumimoji="1" lang="en-US" altLang="ko-KR" sz="2000" dirty="0">
                <a:ea typeface="Malgun Gothic" panose="020B0503020000020004" pitchFamily="34" charset="-127"/>
              </a:rPr>
              <a:t>, 10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일 전 중단</a:t>
            </a:r>
            <a:endParaRPr kumimoji="1" lang="en-US" altLang="ko-K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3A17D-FB84-4365-1165-05647EC98D6A}"/>
              </a:ext>
            </a:extLst>
          </p:cNvPr>
          <p:cNvSpPr txBox="1"/>
          <p:nvPr/>
        </p:nvSpPr>
        <p:spPr>
          <a:xfrm>
            <a:off x="0" y="4004770"/>
            <a:ext cx="8796505" cy="2895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ko-KR" sz="2400" b="1" dirty="0">
                <a:ea typeface="Malgun Gothic" panose="020B0503020000020004" pitchFamily="34" charset="-127"/>
              </a:rPr>
              <a:t>R/O MGN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Hypercholesterolemia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Serology : Anti-PLA2R Ab(-), ANA(-), HBV(-), HIV(-)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Lung nodule : no evidence of Malignancy</a:t>
            </a:r>
            <a:endParaRPr kumimoji="1" lang="en-US" altLang="ko-K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65306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45065-362A-2F77-707A-D7352DA5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344F4-6AD1-B506-FBF8-9C69727EC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24376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Therapeutic plan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416073-8BF5-25B0-6C76-EB0569408017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2A7E4-2634-C976-F057-843972ECA703}"/>
              </a:ext>
            </a:extLst>
          </p:cNvPr>
          <p:cNvSpPr txBox="1"/>
          <p:nvPr/>
        </p:nvSpPr>
        <p:spPr>
          <a:xfrm>
            <a:off x="436456" y="1455488"/>
            <a:ext cx="11600646" cy="603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Supportive Management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Edema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Furosemide IV 40mg bid -&gt; Furosemide tab 120mg bid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Diet : 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신증후식 </a:t>
            </a:r>
            <a:r>
              <a:rPr kumimoji="1" lang="en-US" altLang="ko-KR" sz="2000" dirty="0">
                <a:ea typeface="Malgun Gothic" panose="020B0503020000020004" pitchFamily="34" charset="-127"/>
              </a:rPr>
              <a:t>2000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Proteinuria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Losartan tab 25mg QD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BP 90/60, 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일시 중단</a:t>
            </a:r>
            <a:endParaRPr kumimoji="1" lang="en-US" altLang="ko-KR" sz="2000" dirty="0">
              <a:ea typeface="Malgun Gothic" panose="020B0503020000020004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Hyperlipidemia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 err="1">
                <a:ea typeface="Malgun Gothic" panose="020B0503020000020004" pitchFamily="34" charset="-127"/>
              </a:rPr>
              <a:t>Pitvastatin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 </a:t>
            </a:r>
            <a:r>
              <a:rPr kumimoji="1" lang="en-US" altLang="ko-KR" sz="2000" dirty="0">
                <a:ea typeface="Malgun Gothic" panose="020B0503020000020004" pitchFamily="34" charset="-127"/>
              </a:rPr>
              <a:t>tab 2mg QD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8210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E6A2E-B5A3-B06D-1868-F3A230F3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E1050-A153-A675-D93D-32F18B52C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24376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Therapeutic plan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E7DBD9-FE2A-9BCE-449C-8C0D7D9BD95B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6388404-D0FF-6AAD-DA78-3B987CBBF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18" b="2277"/>
          <a:stretch>
            <a:fillRect/>
          </a:stretch>
        </p:blipFill>
        <p:spPr>
          <a:xfrm>
            <a:off x="176981" y="3583221"/>
            <a:ext cx="6535546" cy="14679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78D4FDC-6185-C655-B928-467EF4ABB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82" y="1685973"/>
            <a:ext cx="6797629" cy="15012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47BA39-CE3D-346D-F26E-AAB4306522E8}"/>
              </a:ext>
            </a:extLst>
          </p:cNvPr>
          <p:cNvSpPr txBox="1"/>
          <p:nvPr/>
        </p:nvSpPr>
        <p:spPr>
          <a:xfrm>
            <a:off x="176981" y="3213889"/>
            <a:ext cx="3241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Membranous nephropathy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5D82C7-A83B-ADE2-DF8E-F378718E5A50}"/>
              </a:ext>
            </a:extLst>
          </p:cNvPr>
          <p:cNvSpPr txBox="1"/>
          <p:nvPr/>
        </p:nvSpPr>
        <p:spPr>
          <a:xfrm>
            <a:off x="176982" y="1289995"/>
            <a:ext cx="3241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MCD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3AEF7A-D4D8-A5F2-AB34-9142780264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641"/>
          <a:stretch>
            <a:fillRect/>
          </a:stretch>
        </p:blipFill>
        <p:spPr>
          <a:xfrm>
            <a:off x="173518" y="5501723"/>
            <a:ext cx="7058556" cy="10866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9F24424-CFD7-F8E7-E7DD-26DEC110B473}"/>
              </a:ext>
            </a:extLst>
          </p:cNvPr>
          <p:cNvSpPr txBox="1"/>
          <p:nvPr/>
        </p:nvSpPr>
        <p:spPr>
          <a:xfrm>
            <a:off x="173518" y="5197561"/>
            <a:ext cx="3241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FSGS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3D3F6A-4A0A-DDD7-205D-2F59DC8D3F57}"/>
              </a:ext>
            </a:extLst>
          </p:cNvPr>
          <p:cNvSpPr txBox="1"/>
          <p:nvPr/>
        </p:nvSpPr>
        <p:spPr>
          <a:xfrm>
            <a:off x="1627278" y="1284769"/>
            <a:ext cx="5309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KDIGO</a:t>
            </a:r>
            <a:r>
              <a:rPr lang="ko-KR" altLang="en-US" dirty="0"/>
              <a:t> </a:t>
            </a:r>
            <a:r>
              <a:rPr lang="en-US" altLang="ko-KR" dirty="0"/>
              <a:t>2021</a:t>
            </a:r>
            <a:r>
              <a:rPr lang="ko-KR" altLang="en-US" dirty="0"/>
              <a:t> </a:t>
            </a:r>
            <a:r>
              <a:rPr lang="en-US" altLang="ko-KR" dirty="0"/>
              <a:t>Glomerular disease guideline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099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2E75-651D-355E-CBA0-B0DE892C3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0E8D1-52EF-41B4-3FCA-1A4A1A972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24376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Therapeutic plan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367977-B1D2-7978-188B-F6EE70FC0740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0C1E7-75DE-D505-AC40-92E26567FE28}"/>
              </a:ext>
            </a:extLst>
          </p:cNvPr>
          <p:cNvSpPr txBox="1"/>
          <p:nvPr/>
        </p:nvSpPr>
        <p:spPr>
          <a:xfrm>
            <a:off x="436456" y="1455488"/>
            <a:ext cx="11600646" cy="508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ko-KR" sz="2400" dirty="0"/>
              <a:t>Immunosuppressive Therapy for Nephrotic Syndrome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High-dose Glucocorticoid initiation (Prednisolone 70mg QD PO)</a:t>
            </a:r>
          </a:p>
          <a:p>
            <a:pPr lvl="1">
              <a:lnSpc>
                <a:spcPct val="200000"/>
              </a:lnSpc>
            </a:pPr>
            <a:r>
              <a:rPr kumimoji="1" lang="en-US" altLang="ko-KR" sz="2000" dirty="0">
                <a:ea typeface="Malgun Gothic" panose="020B0503020000020004" pitchFamily="34" charset="-127"/>
              </a:rPr>
              <a:t> : </a:t>
            </a:r>
            <a:r>
              <a:rPr kumimoji="1" lang="ko-KR" altLang="en-US" sz="2000" dirty="0" err="1">
                <a:ea typeface="Malgun Gothic" panose="020B0503020000020004" pitchFamily="34" charset="-127"/>
              </a:rPr>
              <a:t>신생검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 후 조직학적 확진 전 </a:t>
            </a:r>
            <a:r>
              <a:rPr kumimoji="1" lang="ko-KR" altLang="en-US" sz="2000" dirty="0" err="1">
                <a:ea typeface="Malgun Gothic" panose="020B0503020000020004" pitchFamily="34" charset="-127"/>
              </a:rPr>
              <a:t>선제적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 치료 </a:t>
            </a:r>
            <a:endParaRPr kumimoji="1" lang="en-US" altLang="ko-KR" sz="2000" dirty="0">
              <a:ea typeface="Malgun Gothic" panose="020B0503020000020004" pitchFamily="34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ea typeface="Malgun Gothic" panose="020B0503020000020004" pitchFamily="34" charset="-127"/>
              </a:rPr>
              <a:t>DPP-4 inhibitor 5mg QD PO : 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기저 당뇨 </a:t>
            </a:r>
            <a:r>
              <a:rPr kumimoji="1" lang="ko-KR" altLang="en-US" sz="2000" dirty="0" err="1">
                <a:ea typeface="Malgun Gothic" panose="020B0503020000020004" pitchFamily="34" charset="-127"/>
              </a:rPr>
              <a:t>전단계</a:t>
            </a:r>
            <a:r>
              <a:rPr kumimoji="1" lang="en-US" altLang="ko-KR" sz="2000" dirty="0">
                <a:ea typeface="Malgun Gothic" panose="020B0503020000020004" pitchFamily="34" charset="-127"/>
              </a:rPr>
              <a:t>(HbA1c 6.12%), 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고용량 스테로이드 투여에 따른 당뇨 위험 관리 위해 </a:t>
            </a:r>
            <a:r>
              <a:rPr kumimoji="1" lang="ko-KR" altLang="en-US" sz="2000" dirty="0" err="1">
                <a:ea typeface="Malgun Gothic" panose="020B0503020000020004" pitchFamily="34" charset="-127"/>
              </a:rPr>
              <a:t>선제적</a:t>
            </a:r>
            <a:r>
              <a:rPr kumimoji="1" lang="ko-KR" altLang="en-US" sz="2000" dirty="0">
                <a:ea typeface="Malgun Gothic" panose="020B0503020000020004" pitchFamily="34" charset="-127"/>
              </a:rPr>
              <a:t> 처방</a:t>
            </a:r>
            <a:endParaRPr kumimoji="1" lang="en-US" altLang="ko-KR" sz="2000" dirty="0">
              <a:ea typeface="Malgun Gothic" panose="020B0503020000020004" pitchFamily="34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881935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EC482-5BBC-CF23-0DF3-C1B709F7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E73A1-C833-CABF-8A24-F33915896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Progression note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17370E-EDDC-2AAE-0768-9C6617FA6389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4">
                <a:extLst>
                  <a:ext uri="{FF2B5EF4-FFF2-40B4-BE49-F238E27FC236}">
                    <a16:creationId xmlns:a16="http://schemas.microsoft.com/office/drawing/2014/main" id="{E0604139-98D1-D0C7-1955-BE677787DC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926928"/>
                  </p:ext>
                </p:extLst>
              </p:nvPr>
            </p:nvGraphicFramePr>
            <p:xfrm>
              <a:off x="586370" y="1929663"/>
              <a:ext cx="8969110" cy="261120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327453">
                      <a:extLst>
                        <a:ext uri="{9D8B030D-6E8A-4147-A177-3AD203B41FA5}">
                          <a16:colId xmlns:a16="http://schemas.microsoft.com/office/drawing/2014/main" val="3967416779"/>
                        </a:ext>
                      </a:extLst>
                    </a:gridCol>
                    <a:gridCol w="951276">
                      <a:extLst>
                        <a:ext uri="{9D8B030D-6E8A-4147-A177-3AD203B41FA5}">
                          <a16:colId xmlns:a16="http://schemas.microsoft.com/office/drawing/2014/main" val="2439282906"/>
                        </a:ext>
                      </a:extLst>
                    </a:gridCol>
                    <a:gridCol w="927495">
                      <a:extLst>
                        <a:ext uri="{9D8B030D-6E8A-4147-A177-3AD203B41FA5}">
                          <a16:colId xmlns:a16="http://schemas.microsoft.com/office/drawing/2014/main" val="2471990071"/>
                        </a:ext>
                      </a:extLst>
                    </a:gridCol>
                    <a:gridCol w="927495">
                      <a:extLst>
                        <a:ext uri="{9D8B030D-6E8A-4147-A177-3AD203B41FA5}">
                          <a16:colId xmlns:a16="http://schemas.microsoft.com/office/drawing/2014/main" val="3120592380"/>
                        </a:ext>
                      </a:extLst>
                    </a:gridCol>
                    <a:gridCol w="832366">
                      <a:extLst>
                        <a:ext uri="{9D8B030D-6E8A-4147-A177-3AD203B41FA5}">
                          <a16:colId xmlns:a16="http://schemas.microsoft.com/office/drawing/2014/main" val="3700076370"/>
                        </a:ext>
                      </a:extLst>
                    </a:gridCol>
                    <a:gridCol w="927495">
                      <a:extLst>
                        <a:ext uri="{9D8B030D-6E8A-4147-A177-3AD203B41FA5}">
                          <a16:colId xmlns:a16="http://schemas.microsoft.com/office/drawing/2014/main" val="408743615"/>
                        </a:ext>
                      </a:extLst>
                    </a:gridCol>
                    <a:gridCol w="939385">
                      <a:extLst>
                        <a:ext uri="{9D8B030D-6E8A-4147-A177-3AD203B41FA5}">
                          <a16:colId xmlns:a16="http://schemas.microsoft.com/office/drawing/2014/main" val="3234148066"/>
                        </a:ext>
                      </a:extLst>
                    </a:gridCol>
                    <a:gridCol w="2136145">
                      <a:extLst>
                        <a:ext uri="{9D8B030D-6E8A-4147-A177-3AD203B41FA5}">
                          <a16:colId xmlns:a16="http://schemas.microsoft.com/office/drawing/2014/main" val="832987462"/>
                        </a:ext>
                      </a:extLst>
                    </a:gridCol>
                  </a:tblGrid>
                  <a:tr h="5430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/>
                            <a:t>날짜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06.08 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06.09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06.16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06.17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 err="1"/>
                            <a:t>참고치</a:t>
                          </a:r>
                          <a:r>
                            <a:rPr lang="ko-KR" altLang="en-US" sz="1800" dirty="0"/>
                            <a:t> </a:t>
                          </a:r>
                          <a:r>
                            <a:rPr lang="en-US" altLang="ko-KR" sz="1800" dirty="0"/>
                            <a:t>(</a:t>
                          </a:r>
                          <a:r>
                            <a:rPr lang="ko-KR" altLang="en-US" sz="1800" dirty="0"/>
                            <a:t>단위</a:t>
                          </a:r>
                          <a:r>
                            <a:rPr lang="en-US" altLang="ko-KR" sz="1800" dirty="0"/>
                            <a:t>)</a:t>
                          </a:r>
                          <a:endParaRPr lang="ko-KR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4733581"/>
                      </a:ext>
                    </a:extLst>
                  </a:tr>
                  <a:tr h="5430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BUN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17.1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14.9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13.3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16.6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26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32.6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6-26</a:t>
                          </a:r>
                          <a:r>
                            <a:rPr lang="ko-KR" altLang="en-US" sz="1800" dirty="0"/>
                            <a:t> </a:t>
                          </a:r>
                          <a:r>
                            <a:rPr lang="en-US" altLang="ko-KR" sz="1800" dirty="0"/>
                            <a:t>(mg/dL)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6002914"/>
                      </a:ext>
                    </a:extLst>
                  </a:tr>
                  <a:tr h="5430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Cr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0.73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0.69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0.64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0.74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0.94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1.29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0.4-1.2</a:t>
                          </a:r>
                          <a:r>
                            <a:rPr lang="ko-KR" altLang="en-US" sz="1800" dirty="0"/>
                            <a:t> </a:t>
                          </a:r>
                          <a:r>
                            <a:rPr lang="en-US" altLang="ko-KR" sz="1800" dirty="0"/>
                            <a:t>(mg/dL)</a:t>
                          </a:r>
                          <a:endParaRPr lang="ko-KR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377961"/>
                      </a:ext>
                    </a:extLst>
                  </a:tr>
                  <a:tr h="49099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eGFR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86.3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81.4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72.8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56.4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(mL/min/1.73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ko-K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800" b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kumimoji="1" lang="en-US" altLang="ko-KR" sz="1800" b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800" dirty="0"/>
                            <a:t>)</a:t>
                          </a:r>
                          <a:endParaRPr lang="ko-KR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1538973"/>
                      </a:ext>
                    </a:extLst>
                  </a:tr>
                  <a:tr h="49099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Cystatin C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0.88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0.98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1.06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1.24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0.61-0.95(mg/dL)</a:t>
                          </a:r>
                          <a:endParaRPr lang="ko-KR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9338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4">
                <a:extLst>
                  <a:ext uri="{FF2B5EF4-FFF2-40B4-BE49-F238E27FC236}">
                    <a16:creationId xmlns:a16="http://schemas.microsoft.com/office/drawing/2014/main" id="{E0604139-98D1-D0C7-1955-BE677787DC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926928"/>
                  </p:ext>
                </p:extLst>
              </p:nvPr>
            </p:nvGraphicFramePr>
            <p:xfrm>
              <a:off x="586370" y="1929663"/>
              <a:ext cx="8969110" cy="261120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327453">
                      <a:extLst>
                        <a:ext uri="{9D8B030D-6E8A-4147-A177-3AD203B41FA5}">
                          <a16:colId xmlns:a16="http://schemas.microsoft.com/office/drawing/2014/main" val="3967416779"/>
                        </a:ext>
                      </a:extLst>
                    </a:gridCol>
                    <a:gridCol w="951276">
                      <a:extLst>
                        <a:ext uri="{9D8B030D-6E8A-4147-A177-3AD203B41FA5}">
                          <a16:colId xmlns:a16="http://schemas.microsoft.com/office/drawing/2014/main" val="2439282906"/>
                        </a:ext>
                      </a:extLst>
                    </a:gridCol>
                    <a:gridCol w="927495">
                      <a:extLst>
                        <a:ext uri="{9D8B030D-6E8A-4147-A177-3AD203B41FA5}">
                          <a16:colId xmlns:a16="http://schemas.microsoft.com/office/drawing/2014/main" val="2471990071"/>
                        </a:ext>
                      </a:extLst>
                    </a:gridCol>
                    <a:gridCol w="927495">
                      <a:extLst>
                        <a:ext uri="{9D8B030D-6E8A-4147-A177-3AD203B41FA5}">
                          <a16:colId xmlns:a16="http://schemas.microsoft.com/office/drawing/2014/main" val="3120592380"/>
                        </a:ext>
                      </a:extLst>
                    </a:gridCol>
                    <a:gridCol w="832366">
                      <a:extLst>
                        <a:ext uri="{9D8B030D-6E8A-4147-A177-3AD203B41FA5}">
                          <a16:colId xmlns:a16="http://schemas.microsoft.com/office/drawing/2014/main" val="3700076370"/>
                        </a:ext>
                      </a:extLst>
                    </a:gridCol>
                    <a:gridCol w="927495">
                      <a:extLst>
                        <a:ext uri="{9D8B030D-6E8A-4147-A177-3AD203B41FA5}">
                          <a16:colId xmlns:a16="http://schemas.microsoft.com/office/drawing/2014/main" val="408743615"/>
                        </a:ext>
                      </a:extLst>
                    </a:gridCol>
                    <a:gridCol w="939385">
                      <a:extLst>
                        <a:ext uri="{9D8B030D-6E8A-4147-A177-3AD203B41FA5}">
                          <a16:colId xmlns:a16="http://schemas.microsoft.com/office/drawing/2014/main" val="3234148066"/>
                        </a:ext>
                      </a:extLst>
                    </a:gridCol>
                    <a:gridCol w="2136145">
                      <a:extLst>
                        <a:ext uri="{9D8B030D-6E8A-4147-A177-3AD203B41FA5}">
                          <a16:colId xmlns:a16="http://schemas.microsoft.com/office/drawing/2014/main" val="832987462"/>
                        </a:ext>
                      </a:extLst>
                    </a:gridCol>
                  </a:tblGrid>
                  <a:tr h="5430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/>
                            <a:t>날짜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06.08 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06.09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06.16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06.17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 err="1"/>
                            <a:t>참고치</a:t>
                          </a:r>
                          <a:r>
                            <a:rPr lang="ko-KR" altLang="en-US" sz="1800" dirty="0"/>
                            <a:t> </a:t>
                          </a:r>
                          <a:r>
                            <a:rPr lang="en-US" altLang="ko-KR" sz="1800" dirty="0"/>
                            <a:t>(</a:t>
                          </a:r>
                          <a:r>
                            <a:rPr lang="ko-KR" altLang="en-US" sz="1800" dirty="0"/>
                            <a:t>단위</a:t>
                          </a:r>
                          <a:r>
                            <a:rPr lang="en-US" altLang="ko-KR" sz="1800" dirty="0"/>
                            <a:t>)</a:t>
                          </a:r>
                          <a:endParaRPr lang="ko-KR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4733581"/>
                      </a:ext>
                    </a:extLst>
                  </a:tr>
                  <a:tr h="5430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BUN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17.1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14.9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13.3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16.6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26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dirty="0"/>
                            <a:t>32.6</a:t>
                          </a:r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6-26</a:t>
                          </a:r>
                          <a:r>
                            <a:rPr lang="ko-KR" altLang="en-US" sz="1800" dirty="0"/>
                            <a:t> </a:t>
                          </a:r>
                          <a:r>
                            <a:rPr lang="en-US" altLang="ko-KR" sz="1800" dirty="0"/>
                            <a:t>(mg/dL)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6002914"/>
                      </a:ext>
                    </a:extLst>
                  </a:tr>
                  <a:tr h="54307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Cr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0.73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0.69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0.64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0.74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0.94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dirty="0"/>
                            <a:t>  1.29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0.4-1.2</a:t>
                          </a:r>
                          <a:r>
                            <a:rPr lang="ko-KR" altLang="en-US" sz="1800" dirty="0"/>
                            <a:t> </a:t>
                          </a:r>
                          <a:r>
                            <a:rPr lang="en-US" altLang="ko-KR" sz="1800" dirty="0"/>
                            <a:t>(mg/dL)</a:t>
                          </a:r>
                          <a:endParaRPr lang="ko-KR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4377961"/>
                      </a:ext>
                    </a:extLst>
                  </a:tr>
                  <a:tr h="49099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eGFR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86.3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81.4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72.8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56.4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9373" t="-341250" r="-285" b="-10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1538973"/>
                      </a:ext>
                    </a:extLst>
                  </a:tr>
                  <a:tr h="49099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Cystatin C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0.88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0.98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1.06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1.24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0.61-0.95(mg/dL)</a:t>
                          </a:r>
                          <a:endParaRPr lang="ko-KR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93386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79542A2-E4C7-1DE4-F2DC-FD2992D2E198}"/>
              </a:ext>
            </a:extLst>
          </p:cNvPr>
          <p:cNvSpPr txBox="1"/>
          <p:nvPr/>
        </p:nvSpPr>
        <p:spPr>
          <a:xfrm>
            <a:off x="586370" y="1420638"/>
            <a:ext cx="6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RFT f/u</a:t>
            </a:r>
            <a:endParaRPr lang="ko-KR" altLang="en-US" b="1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EC24784-CEB6-7656-D2D3-5E4702F73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558227"/>
              </p:ext>
            </p:extLst>
          </p:nvPr>
        </p:nvGraphicFramePr>
        <p:xfrm>
          <a:off x="586370" y="5108524"/>
          <a:ext cx="6832965" cy="118315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94385">
                  <a:extLst>
                    <a:ext uri="{9D8B030D-6E8A-4147-A177-3AD203B41FA5}">
                      <a16:colId xmlns:a16="http://schemas.microsoft.com/office/drawing/2014/main" val="3967416779"/>
                    </a:ext>
                  </a:extLst>
                </a:gridCol>
                <a:gridCol w="984344">
                  <a:extLst>
                    <a:ext uri="{9D8B030D-6E8A-4147-A177-3AD203B41FA5}">
                      <a16:colId xmlns:a16="http://schemas.microsoft.com/office/drawing/2014/main" val="2439282906"/>
                    </a:ext>
                  </a:extLst>
                </a:gridCol>
                <a:gridCol w="927495">
                  <a:extLst>
                    <a:ext uri="{9D8B030D-6E8A-4147-A177-3AD203B41FA5}">
                      <a16:colId xmlns:a16="http://schemas.microsoft.com/office/drawing/2014/main" val="2471990071"/>
                    </a:ext>
                  </a:extLst>
                </a:gridCol>
                <a:gridCol w="927495">
                  <a:extLst>
                    <a:ext uri="{9D8B030D-6E8A-4147-A177-3AD203B41FA5}">
                      <a16:colId xmlns:a16="http://schemas.microsoft.com/office/drawing/2014/main" val="3120592380"/>
                    </a:ext>
                  </a:extLst>
                </a:gridCol>
                <a:gridCol w="832366">
                  <a:extLst>
                    <a:ext uri="{9D8B030D-6E8A-4147-A177-3AD203B41FA5}">
                      <a16:colId xmlns:a16="http://schemas.microsoft.com/office/drawing/2014/main" val="3700076370"/>
                    </a:ext>
                  </a:extLst>
                </a:gridCol>
                <a:gridCol w="927495">
                  <a:extLst>
                    <a:ext uri="{9D8B030D-6E8A-4147-A177-3AD203B41FA5}">
                      <a16:colId xmlns:a16="http://schemas.microsoft.com/office/drawing/2014/main" val="408743615"/>
                    </a:ext>
                  </a:extLst>
                </a:gridCol>
                <a:gridCol w="939385">
                  <a:extLst>
                    <a:ext uri="{9D8B030D-6E8A-4147-A177-3AD203B41FA5}">
                      <a16:colId xmlns:a16="http://schemas.microsoft.com/office/drawing/2014/main" val="3234148066"/>
                    </a:ext>
                  </a:extLst>
                </a:gridCol>
              </a:tblGrid>
              <a:tr h="5430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06.08 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06.09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06.13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06.15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06.16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06.17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733581"/>
                  </a:ext>
                </a:extLst>
              </a:tr>
              <a:tr h="543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Urine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4+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3+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4+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4+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4+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3+</a:t>
                      </a:r>
                      <a:endParaRPr lang="ko-KR" alt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002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26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359E-1D6A-A265-0046-4FD3B72B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B8DB5-DC6E-FF42-4D4D-DF3EC9EC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0"/>
            <a:ext cx="10287818" cy="1325563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598A"/>
                </a:solidFill>
              </a:rPr>
              <a:t>Progression note</a:t>
            </a:r>
            <a:endParaRPr lang="ko-KR" altLang="en-US" sz="4000" b="1" dirty="0">
              <a:solidFill>
                <a:srgbClr val="00598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52B2B-2A23-6C43-E623-E1518D51F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2" y="1564638"/>
            <a:ext cx="7639056" cy="49860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4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D707B8-97DE-18BB-6DAB-624630025ED6}"/>
              </a:ext>
            </a:extLst>
          </p:cNvPr>
          <p:cNvSpPr/>
          <p:nvPr/>
        </p:nvSpPr>
        <p:spPr>
          <a:xfrm>
            <a:off x="1" y="1111045"/>
            <a:ext cx="12191999" cy="119172"/>
          </a:xfrm>
          <a:prstGeom prst="rect">
            <a:avLst/>
          </a:prstGeom>
          <a:solidFill>
            <a:srgbClr val="0059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70811AE-0266-5F6F-0C29-46F8DBBD71E9}"/>
              </a:ext>
            </a:extLst>
          </p:cNvPr>
          <p:cNvSpPr txBox="1">
            <a:spLocks/>
          </p:cNvSpPr>
          <p:nvPr/>
        </p:nvSpPr>
        <p:spPr>
          <a:xfrm>
            <a:off x="5914283" y="1564638"/>
            <a:ext cx="6420787" cy="529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ADC66-DF6D-FB12-CB3A-397A317D6AD8}"/>
              </a:ext>
            </a:extLst>
          </p:cNvPr>
          <p:cNvSpPr txBox="1"/>
          <p:nvPr/>
        </p:nvSpPr>
        <p:spPr>
          <a:xfrm>
            <a:off x="231774" y="1170631"/>
            <a:ext cx="6639561" cy="6311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ko-KR" altLang="en-US" sz="2400" b="1" dirty="0"/>
              <a:t>약제 변경</a:t>
            </a:r>
            <a:endParaRPr kumimoji="1"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6/8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Furosemide 80mg IV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6/14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b="1" dirty="0">
                <a:solidFill>
                  <a:srgbClr val="FF0000"/>
                </a:solidFill>
              </a:rPr>
              <a:t>Furosemide 240mgPO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6/16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Furosemide 160mg PO + </a:t>
            </a:r>
            <a:r>
              <a:rPr kumimoji="1" lang="en-US" altLang="ko-KR" b="1" dirty="0">
                <a:solidFill>
                  <a:srgbClr val="FF0000"/>
                </a:solidFill>
              </a:rPr>
              <a:t>80mg IV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ARB d/c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b="1" dirty="0">
                <a:solidFill>
                  <a:srgbClr val="FF0000"/>
                </a:solidFill>
              </a:rPr>
              <a:t>Prednisolone 70mg PO </a:t>
            </a:r>
            <a:r>
              <a:rPr kumimoji="1" lang="ko-KR" altLang="en-US" dirty="0"/>
              <a:t>추가</a:t>
            </a:r>
            <a:endParaRPr kumimoji="1"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6/17 ~ : Furosemide 240mg PO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6/19 : Furosemide 160mg PO + </a:t>
            </a:r>
            <a:r>
              <a:rPr kumimoji="1" lang="en-US" altLang="ko-KR" b="1" dirty="0">
                <a:solidFill>
                  <a:srgbClr val="FF0000"/>
                </a:solidFill>
              </a:rPr>
              <a:t>Cyclosporine100mg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E08F9-8FCA-FDC8-8105-EEC73E93D73F}"/>
              </a:ext>
            </a:extLst>
          </p:cNvPr>
          <p:cNvSpPr txBox="1"/>
          <p:nvPr/>
        </p:nvSpPr>
        <p:spPr>
          <a:xfrm>
            <a:off x="5492162" y="1267257"/>
            <a:ext cx="3648258" cy="1571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/>
              <a:t>B/W f/u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3827C-F8FD-3C60-A407-74A41800730F}"/>
              </a:ext>
            </a:extLst>
          </p:cNvPr>
          <p:cNvSpPr txBox="1"/>
          <p:nvPr/>
        </p:nvSpPr>
        <p:spPr>
          <a:xfrm>
            <a:off x="176982" y="4215118"/>
            <a:ext cx="3648258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b="1" dirty="0"/>
          </a:p>
        </p:txBody>
      </p:sp>
      <p:graphicFrame>
        <p:nvGraphicFramePr>
          <p:cNvPr id="10" name="표 4">
            <a:extLst>
              <a:ext uri="{FF2B5EF4-FFF2-40B4-BE49-F238E27FC236}">
                <a16:creationId xmlns:a16="http://schemas.microsoft.com/office/drawing/2014/main" id="{C2D294D9-369B-6BC5-56C0-B47A01130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987672"/>
              </p:ext>
            </p:extLst>
          </p:nvPr>
        </p:nvGraphicFramePr>
        <p:xfrm>
          <a:off x="5492162" y="2056581"/>
          <a:ext cx="6468064" cy="118315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25261">
                  <a:extLst>
                    <a:ext uri="{9D8B030D-6E8A-4147-A177-3AD203B41FA5}">
                      <a16:colId xmlns:a16="http://schemas.microsoft.com/office/drawing/2014/main" val="3967416779"/>
                    </a:ext>
                  </a:extLst>
                </a:gridCol>
                <a:gridCol w="931777">
                  <a:extLst>
                    <a:ext uri="{9D8B030D-6E8A-4147-A177-3AD203B41FA5}">
                      <a16:colId xmlns:a16="http://schemas.microsoft.com/office/drawing/2014/main" val="2439282906"/>
                    </a:ext>
                  </a:extLst>
                </a:gridCol>
                <a:gridCol w="877964">
                  <a:extLst>
                    <a:ext uri="{9D8B030D-6E8A-4147-A177-3AD203B41FA5}">
                      <a16:colId xmlns:a16="http://schemas.microsoft.com/office/drawing/2014/main" val="2471990071"/>
                    </a:ext>
                  </a:extLst>
                </a:gridCol>
                <a:gridCol w="877964">
                  <a:extLst>
                    <a:ext uri="{9D8B030D-6E8A-4147-A177-3AD203B41FA5}">
                      <a16:colId xmlns:a16="http://schemas.microsoft.com/office/drawing/2014/main" val="3120592380"/>
                    </a:ext>
                  </a:extLst>
                </a:gridCol>
                <a:gridCol w="787915">
                  <a:extLst>
                    <a:ext uri="{9D8B030D-6E8A-4147-A177-3AD203B41FA5}">
                      <a16:colId xmlns:a16="http://schemas.microsoft.com/office/drawing/2014/main" val="3700076370"/>
                    </a:ext>
                  </a:extLst>
                </a:gridCol>
                <a:gridCol w="877964">
                  <a:extLst>
                    <a:ext uri="{9D8B030D-6E8A-4147-A177-3AD203B41FA5}">
                      <a16:colId xmlns:a16="http://schemas.microsoft.com/office/drawing/2014/main" val="408743615"/>
                    </a:ext>
                  </a:extLst>
                </a:gridCol>
                <a:gridCol w="889219">
                  <a:extLst>
                    <a:ext uri="{9D8B030D-6E8A-4147-A177-3AD203B41FA5}">
                      <a16:colId xmlns:a16="http://schemas.microsoft.com/office/drawing/2014/main" val="3234148066"/>
                    </a:ext>
                  </a:extLst>
                </a:gridCol>
              </a:tblGrid>
              <a:tr h="5430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06.08 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06.09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06.15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06.16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06.17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06.18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733581"/>
                  </a:ext>
                </a:extLst>
              </a:tr>
              <a:tr h="5430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체중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en-US" altLang="ko-KR" sz="1800" dirty="0"/>
                        <a:t>(kg)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79.4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78.8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75.8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77.3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78.8</a:t>
                      </a:r>
                      <a:endParaRPr lang="ko-KR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79.05</a:t>
                      </a:r>
                      <a:endParaRPr lang="ko-KR" alt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002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638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8736</TotalTime>
  <Words>740</Words>
  <Application>Microsoft Office PowerPoint</Application>
  <PresentationFormat>와이드스크린</PresentationFormat>
  <Paragraphs>291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맑은 고딕</vt:lpstr>
      <vt:lpstr>바탕</vt:lpstr>
      <vt:lpstr>Arial</vt:lpstr>
      <vt:lpstr>Cambria Math</vt:lpstr>
      <vt:lpstr>Office 테마</vt:lpstr>
      <vt:lpstr>Case presentation</vt:lpstr>
      <vt:lpstr>CC &amp; Present illness</vt:lpstr>
      <vt:lpstr>Past History </vt:lpstr>
      <vt:lpstr>ROS &amp; P/E (26.06.08)</vt:lpstr>
      <vt:lpstr>Initial laboratory findings(06.08)</vt:lpstr>
      <vt:lpstr>Diagnostic plan</vt:lpstr>
      <vt:lpstr>Abodminal CT(26.06.09)</vt:lpstr>
      <vt:lpstr>Assessment</vt:lpstr>
      <vt:lpstr>Assessment</vt:lpstr>
      <vt:lpstr>Assessment</vt:lpstr>
      <vt:lpstr>Therapeutic plan</vt:lpstr>
      <vt:lpstr>Therapeutic plan</vt:lpstr>
      <vt:lpstr>Therapeutic plan</vt:lpstr>
      <vt:lpstr>Progression note</vt:lpstr>
      <vt:lpstr>Progression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presentation</dc:title>
  <dc:creator>Do Gyu Lee</dc:creator>
  <cp:lastModifiedBy>Do Gyu Lee</cp:lastModifiedBy>
  <cp:revision>77</cp:revision>
  <dcterms:created xsi:type="dcterms:W3CDTF">2026-05-28T22:02:55Z</dcterms:created>
  <dcterms:modified xsi:type="dcterms:W3CDTF">2026-06-19T00:29:41Z</dcterms:modified>
</cp:coreProperties>
</file>